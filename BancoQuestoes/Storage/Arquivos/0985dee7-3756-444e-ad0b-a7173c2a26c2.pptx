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6" d="100"/>
          <a:sy n="86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6F8D2-ECF5-404A-BF40-529B9C653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37148E-A973-42BD-9641-091DE73DA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F09DC6-E242-45D1-ABE0-BCDF1D59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968F86-01FF-43AA-B02E-9A5343350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1E7323-B770-4312-AA56-613ACED1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97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D6CEC-24CF-454D-8BD3-BD51320B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BE5AF6-2339-47D0-A541-1B38326EC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D2CE9D-6131-499C-87A1-1F70F3DA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78D32-01AB-4CC2-8362-48BFA2D8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09305-2F21-47A8-B720-1D35561C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36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25101-6E0B-40EA-B4E9-4F6B5756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88114A-A415-4FE4-B604-5B7ED3D85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2960BF-414F-4156-A99D-F6DA52B44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4FA479-411F-4192-A595-9109974F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AED0EF-E445-4D5F-A5D1-07C6EC15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24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0866B-C5FB-4DF4-9F03-03A07779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1E579F-075A-4FF6-969D-D52574C2F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9B74B6-3CC5-49CC-998F-92071FC29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EDBA67-E4F7-4B69-BEEE-F5CF299A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322264-60A6-471B-9140-C71E85D2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0E609-1747-40F9-A2A3-F0E57BF0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94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73B60-0245-4A24-87EB-51724AA3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F6E3BD-B076-48CE-93A7-D2D2306E8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419375-542B-4184-9DA7-09AD724FA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90DCCB-511B-49CB-AD3A-629D61CFD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0B2D9B-8B6A-450E-8F20-48DCF92A3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4F5E15-A322-441A-B8D6-5EA0B5A1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625778-1DB6-4A71-98F6-C0014088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65FD09B-CC64-46B0-A6D4-ACCE2C2A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00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03980-5530-4F8C-B303-78E7598C0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DB57778-E915-44C5-A1D7-B696A32C0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66E0CB-5251-475C-A2C6-F3E93478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681D2D-F50C-471D-A88A-5E2237D6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677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6E2D81-232B-4782-9192-D917D12A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001CE52-E7F6-4797-9E4F-968F4137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37B09B-431A-444B-B4AB-6B224C0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14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EC0A0-56C0-4EC4-BB56-337C0629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D7E32A-648A-42A5-859F-CCFA2861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B1E898-1F72-45A1-8A97-452FEC200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8E1333-8851-4D3A-907F-8311EF16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82E3E3-5F55-454B-B51B-641DB5F4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825C1E-0EBA-45AC-B451-B531FB21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721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48D46-E0E7-4EE2-B758-0EB20FFC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3842BB-F8EB-487A-A174-28E7245F0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15223A-A822-46A2-B192-B885DCC6E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2D3FF8-BBC4-44EF-A45F-D258ED27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7BCF34-E343-4EA6-949E-3FBCD5A3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E9B571-164B-4EE9-B4C9-B7B7E0E1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63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D1EAE-C979-4B34-A9A3-28C7F03F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B9BB8E-EBFD-4E02-B064-5F0379C93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7D67D7-A38B-4E25-8583-1A20212D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4A7375-2A65-4549-9CBC-72E87387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52372F-BDFB-4E94-8DA6-A29C9436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73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6A9780-E10E-47AE-84FC-29EA320A6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40E7AA-F4CE-41B7-AABC-EFCB38AFF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80F931-D3FC-4540-88AF-7C83740E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A8197D-D471-4CC7-81B1-44268FC8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65CB7B-98F0-453C-8D9B-13C89C50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26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C89122E-1C5A-4BD8-9D94-ACEA8D4E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9F8FAB-F06C-49E4-AD9F-F62F20AD5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DCF515-7BF3-4AEE-88B2-DB600D6F3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BED68-31EA-45F6-AA9A-31F653226A44}" type="datetimeFigureOut">
              <a:rPr lang="pt-BR" smtClean="0"/>
              <a:t>19/05/2021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24C850-8F14-4577-BD44-21DA725B5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FFD55C-8BA8-453B-8AF0-786B901D6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9C013-168E-4E14-B266-B2CCF8CF9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75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016A3A0-5E36-40B0-B3B0-38A1C2D56A25}"/>
              </a:ext>
            </a:extLst>
          </p:cNvPr>
          <p:cNvSpPr txBox="1"/>
          <p:nvPr/>
        </p:nvSpPr>
        <p:spPr>
          <a:xfrm>
            <a:off x="478971" y="159657"/>
            <a:ext cx="342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1. Calcular </a:t>
            </a:r>
            <a:r>
              <a:rPr lang="pt-BR" dirty="0" err="1"/>
              <a:t>x</a:t>
            </a:r>
            <a:r>
              <a:rPr lang="pt-BR" baseline="30000" dirty="0" err="1"/>
              <a:t>y</a:t>
            </a:r>
            <a:r>
              <a:rPr lang="pt-BR" dirty="0"/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D96940-9970-414B-A249-32D230469788}"/>
              </a:ext>
            </a:extLst>
          </p:cNvPr>
          <p:cNvSpPr txBox="1"/>
          <p:nvPr/>
        </p:nvSpPr>
        <p:spPr>
          <a:xfrm>
            <a:off x="478971" y="528989"/>
            <a:ext cx="9949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é x elevado a y? É o x multiplicado por x, y vezes.</a:t>
            </a:r>
          </a:p>
          <a:p>
            <a:r>
              <a:rPr lang="pt-BR" b="1" dirty="0"/>
              <a:t>Caso Base</a:t>
            </a:r>
            <a:r>
              <a:rPr lang="pt-BR" dirty="0"/>
              <a:t>: Todo número elevado a zero é igual a 1</a:t>
            </a:r>
          </a:p>
          <a:p>
            <a:r>
              <a:rPr lang="pt-BR" b="1" dirty="0"/>
              <a:t>Caso de recursão</a:t>
            </a:r>
            <a:r>
              <a:rPr lang="pt-BR" dirty="0"/>
              <a:t>: Enquanto o y for diferente de zero, fazemos x que multiplica a chamada recursiva reduzindo o y em 1.</a:t>
            </a:r>
            <a:endParaRPr lang="pt-BR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3A10AA0-14F7-42B0-9266-9F448897754A}"/>
                  </a:ext>
                </a:extLst>
              </p:cNvPr>
              <p:cNvSpPr txBox="1"/>
              <p:nvPr/>
            </p:nvSpPr>
            <p:spPr>
              <a:xfrm>
                <a:off x="661087" y="1789719"/>
                <a:ext cx="4458144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𝑠𝑒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=0     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𝑐𝑎𝑠𝑜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𝑐𝑜𝑛𝑡𝑟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á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𝑟𝑖𝑜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3A10AA0-14F7-42B0-9266-9F4488977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87" y="1789719"/>
                <a:ext cx="4458144" cy="6178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53C2027-DC61-494F-9E72-7F155D5A1BAD}"/>
              </a:ext>
            </a:extLst>
          </p:cNvPr>
          <p:cNvSpPr txBox="1"/>
          <p:nvPr/>
        </p:nvSpPr>
        <p:spPr>
          <a:xfrm>
            <a:off x="661087" y="2685443"/>
            <a:ext cx="46609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de mesa: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f1(3, 5) </a:t>
            </a:r>
            <a:r>
              <a:rPr lang="pt-BR" dirty="0"/>
              <a:t>= ????</a:t>
            </a:r>
          </a:p>
          <a:p>
            <a:endParaRPr lang="pt-BR" dirty="0"/>
          </a:p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f1(3, 5) </a:t>
            </a:r>
            <a:r>
              <a:rPr lang="pt-BR" dirty="0"/>
              <a:t>= 3 * f1(3, 5-1) </a:t>
            </a:r>
            <a:r>
              <a:rPr lang="pt-BR" dirty="0">
                <a:sym typeface="Wingdings" panose="05000000000000000000" pitchFamily="2" charset="2"/>
              </a:rPr>
              <a:t> 3 *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f1(3, 4) </a:t>
            </a:r>
            <a:r>
              <a:rPr lang="pt-BR" dirty="0">
                <a:sym typeface="Wingdings" panose="05000000000000000000" pitchFamily="2" charset="2"/>
              </a:rPr>
              <a:t> 3 * ???</a:t>
            </a:r>
          </a:p>
          <a:p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f1(3, 4) </a:t>
            </a:r>
            <a:r>
              <a:rPr lang="pt-BR" dirty="0">
                <a:sym typeface="Wingdings" panose="05000000000000000000" pitchFamily="2" charset="2"/>
              </a:rPr>
              <a:t>= 3 * f1(3, 4-1)  3 * </a:t>
            </a:r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f1(3, 3) </a:t>
            </a:r>
            <a:r>
              <a:rPr lang="pt-BR" dirty="0">
                <a:sym typeface="Wingdings" panose="05000000000000000000" pitchFamily="2" charset="2"/>
              </a:rPr>
              <a:t> 3 * ???</a:t>
            </a:r>
          </a:p>
          <a:p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f1(3, 3) </a:t>
            </a:r>
            <a:r>
              <a:rPr lang="pt-BR" dirty="0">
                <a:sym typeface="Wingdings" panose="05000000000000000000" pitchFamily="2" charset="2"/>
              </a:rPr>
              <a:t>= 3 * f1(3, 3-1)  3 *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f1(3, 2) </a:t>
            </a:r>
            <a:r>
              <a:rPr lang="pt-BR" dirty="0">
                <a:sym typeface="Wingdings" panose="05000000000000000000" pitchFamily="2" charset="2"/>
              </a:rPr>
              <a:t> 3 * ???</a:t>
            </a:r>
          </a:p>
          <a:p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f1(3, 2) </a:t>
            </a:r>
            <a:r>
              <a:rPr lang="pt-BR" dirty="0">
                <a:sym typeface="Wingdings" panose="05000000000000000000" pitchFamily="2" charset="2"/>
              </a:rPr>
              <a:t>= 3 * f1(3, 2-1)  3 *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f1(3, 1) </a:t>
            </a:r>
            <a:r>
              <a:rPr lang="pt-BR" dirty="0">
                <a:sym typeface="Wingdings" panose="05000000000000000000" pitchFamily="2" charset="2"/>
              </a:rPr>
              <a:t> 3 * ???</a:t>
            </a:r>
          </a:p>
          <a:p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f1(3, 1) </a:t>
            </a:r>
            <a:r>
              <a:rPr lang="pt-BR" dirty="0">
                <a:sym typeface="Wingdings" panose="05000000000000000000" pitchFamily="2" charset="2"/>
              </a:rPr>
              <a:t>= 3 * f1(3, 1-1)  3 * </a:t>
            </a:r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f1(3, 0) </a:t>
            </a:r>
            <a:r>
              <a:rPr lang="pt-BR" dirty="0">
                <a:sym typeface="Wingdings" panose="05000000000000000000" pitchFamily="2" charset="2"/>
              </a:rPr>
              <a:t> 3 * ???</a:t>
            </a:r>
          </a:p>
          <a:p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f1(3, 0)</a:t>
            </a:r>
            <a:r>
              <a:rPr lang="pt-BR" dirty="0">
                <a:sym typeface="Wingdings" panose="05000000000000000000" pitchFamily="2" charset="2"/>
              </a:rPr>
              <a:t> = 1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5071592D-D57E-4B00-B798-4404885CBBCD}"/>
              </a:ext>
            </a:extLst>
          </p:cNvPr>
          <p:cNvSpPr/>
          <p:nvPr/>
        </p:nvSpPr>
        <p:spPr>
          <a:xfrm>
            <a:off x="5539556" y="3092521"/>
            <a:ext cx="678094" cy="16644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942DCD-E87C-45CD-93B5-134A5C23C587}"/>
              </a:ext>
            </a:extLst>
          </p:cNvPr>
          <p:cNvSpPr txBox="1"/>
          <p:nvPr/>
        </p:nvSpPr>
        <p:spPr>
          <a:xfrm>
            <a:off x="6435193" y="3601562"/>
            <a:ext cx="2938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Reduz o problema até chegar ao caso base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E2483CC-6667-4544-8B87-239B2406A92B}"/>
              </a:ext>
            </a:extLst>
          </p:cNvPr>
          <p:cNvSpPr/>
          <p:nvPr/>
        </p:nvSpPr>
        <p:spPr>
          <a:xfrm>
            <a:off x="585627" y="1729318"/>
            <a:ext cx="4736386" cy="81867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77D11C-1F25-49DA-A7B0-C6F97EB749CA}"/>
              </a:ext>
            </a:extLst>
          </p:cNvPr>
          <p:cNvSpPr txBox="1"/>
          <p:nvPr/>
        </p:nvSpPr>
        <p:spPr>
          <a:xfrm>
            <a:off x="5878603" y="1953988"/>
            <a:ext cx="123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SOLUÇÃO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1162813-D7DC-4363-88BD-7B599547E72E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5322013" y="2138654"/>
            <a:ext cx="55659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7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016A3A0-5E36-40B0-B3B0-38A1C2D56A25}"/>
              </a:ext>
            </a:extLst>
          </p:cNvPr>
          <p:cNvSpPr txBox="1"/>
          <p:nvPr/>
        </p:nvSpPr>
        <p:spPr>
          <a:xfrm>
            <a:off x="478971" y="159657"/>
            <a:ext cx="342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1. Calcular </a:t>
            </a:r>
            <a:r>
              <a:rPr lang="pt-BR" dirty="0" err="1"/>
              <a:t>x</a:t>
            </a:r>
            <a:r>
              <a:rPr lang="pt-BR" baseline="30000" dirty="0" err="1"/>
              <a:t>y</a:t>
            </a:r>
            <a:r>
              <a:rPr lang="pt-BR" dirty="0"/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D96940-9970-414B-A249-32D230469788}"/>
              </a:ext>
            </a:extLst>
          </p:cNvPr>
          <p:cNvSpPr txBox="1"/>
          <p:nvPr/>
        </p:nvSpPr>
        <p:spPr>
          <a:xfrm>
            <a:off x="478971" y="528989"/>
            <a:ext cx="9949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é x elevado a y? É o x multiplicado por x, y vezes.</a:t>
            </a:r>
          </a:p>
          <a:p>
            <a:r>
              <a:rPr lang="pt-BR" b="1" dirty="0"/>
              <a:t>Caso Base</a:t>
            </a:r>
            <a:r>
              <a:rPr lang="pt-BR" dirty="0"/>
              <a:t>: Todo número elevado a zero é igual a 1</a:t>
            </a:r>
          </a:p>
          <a:p>
            <a:r>
              <a:rPr lang="pt-BR" b="1" dirty="0"/>
              <a:t>Caso de recursão</a:t>
            </a:r>
            <a:r>
              <a:rPr lang="pt-BR" dirty="0"/>
              <a:t>: Enquanto o y for diferente de zero, fazemos x que multiplica a chamada recursiva reduzindo o y em 1.</a:t>
            </a:r>
            <a:endParaRPr lang="pt-BR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3A10AA0-14F7-42B0-9266-9F448897754A}"/>
                  </a:ext>
                </a:extLst>
              </p:cNvPr>
              <p:cNvSpPr txBox="1"/>
              <p:nvPr/>
            </p:nvSpPr>
            <p:spPr>
              <a:xfrm>
                <a:off x="661087" y="1789719"/>
                <a:ext cx="4458144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𝑠𝑒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=0     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𝑐𝑎𝑠𝑜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𝑐𝑜𝑛𝑡𝑟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á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𝑟𝑖𝑜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3A10AA0-14F7-42B0-9266-9F4488977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87" y="1789719"/>
                <a:ext cx="4458144" cy="6178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53C2027-DC61-494F-9E72-7F155D5A1BAD}"/>
              </a:ext>
            </a:extLst>
          </p:cNvPr>
          <p:cNvSpPr txBox="1"/>
          <p:nvPr/>
        </p:nvSpPr>
        <p:spPr>
          <a:xfrm>
            <a:off x="661086" y="2685443"/>
            <a:ext cx="6222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de mesa: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f1(3, 5) </a:t>
            </a:r>
            <a:r>
              <a:rPr lang="pt-BR" dirty="0"/>
              <a:t>= ????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243</a:t>
            </a:r>
            <a:endParaRPr lang="pt-BR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pt-BR" dirty="0"/>
          </a:p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f1(3, 5) </a:t>
            </a:r>
            <a:r>
              <a:rPr lang="pt-BR" dirty="0"/>
              <a:t>= 3 * f1(3, 5-1) </a:t>
            </a:r>
            <a:r>
              <a:rPr lang="pt-BR" dirty="0">
                <a:sym typeface="Wingdings" panose="05000000000000000000" pitchFamily="2" charset="2"/>
              </a:rPr>
              <a:t> 3 *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f1(3, 4) </a:t>
            </a:r>
            <a:r>
              <a:rPr lang="pt-BR" dirty="0">
                <a:sym typeface="Wingdings" panose="05000000000000000000" pitchFamily="2" charset="2"/>
              </a:rPr>
              <a:t> 3 * ???  3 *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81</a:t>
            </a:r>
            <a:r>
              <a:rPr lang="pt-BR" dirty="0">
                <a:sym typeface="Wingdings" panose="05000000000000000000" pitchFamily="2" charset="2"/>
              </a:rPr>
              <a:t> 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243</a:t>
            </a:r>
          </a:p>
          <a:p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f1(3, 4) </a:t>
            </a:r>
            <a:r>
              <a:rPr lang="pt-BR" dirty="0">
                <a:sym typeface="Wingdings" panose="05000000000000000000" pitchFamily="2" charset="2"/>
              </a:rPr>
              <a:t>= 3 * f1(3, 4-1)  3 * </a:t>
            </a:r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f1(3, 3) </a:t>
            </a:r>
            <a:r>
              <a:rPr lang="pt-BR" dirty="0">
                <a:sym typeface="Wingdings" panose="05000000000000000000" pitchFamily="2" charset="2"/>
              </a:rPr>
              <a:t> 3 * ???  3 * </a:t>
            </a:r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27</a:t>
            </a:r>
            <a:r>
              <a:rPr lang="pt-BR" dirty="0">
                <a:sym typeface="Wingdings" panose="05000000000000000000" pitchFamily="2" charset="2"/>
              </a:rPr>
              <a:t> 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81</a:t>
            </a:r>
          </a:p>
          <a:p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f1(3, 3) </a:t>
            </a:r>
            <a:r>
              <a:rPr lang="pt-BR" dirty="0">
                <a:sym typeface="Wingdings" panose="05000000000000000000" pitchFamily="2" charset="2"/>
              </a:rPr>
              <a:t>= 3 * f1(3, 3-1)  3 *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f1(3, 2) </a:t>
            </a:r>
            <a:r>
              <a:rPr lang="pt-BR" dirty="0">
                <a:sym typeface="Wingdings" panose="05000000000000000000" pitchFamily="2" charset="2"/>
              </a:rPr>
              <a:t> 3 * ???  3 *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9</a:t>
            </a:r>
            <a:r>
              <a:rPr lang="pt-BR" dirty="0">
                <a:sym typeface="Wingdings" panose="05000000000000000000" pitchFamily="2" charset="2"/>
              </a:rPr>
              <a:t>  </a:t>
            </a:r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27</a:t>
            </a:r>
          </a:p>
          <a:p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f1(3, 2) </a:t>
            </a:r>
            <a:r>
              <a:rPr lang="pt-BR" dirty="0">
                <a:sym typeface="Wingdings" panose="05000000000000000000" pitchFamily="2" charset="2"/>
              </a:rPr>
              <a:t>= 3 * f1(3, 2-1)  3 *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f1(3, 1) </a:t>
            </a:r>
            <a:r>
              <a:rPr lang="pt-BR" dirty="0">
                <a:sym typeface="Wingdings" panose="05000000000000000000" pitchFamily="2" charset="2"/>
              </a:rPr>
              <a:t> 3 * ???  3 *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pt-BR" dirty="0">
                <a:sym typeface="Wingdings" panose="05000000000000000000" pitchFamily="2" charset="2"/>
              </a:rPr>
              <a:t> 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9</a:t>
            </a:r>
            <a:r>
              <a:rPr lang="pt-BR" dirty="0">
                <a:sym typeface="Wingdings" panose="05000000000000000000" pitchFamily="2" charset="2"/>
              </a:rPr>
              <a:t> </a:t>
            </a:r>
          </a:p>
          <a:p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f1(3, 1) </a:t>
            </a:r>
            <a:r>
              <a:rPr lang="pt-BR" dirty="0">
                <a:sym typeface="Wingdings" panose="05000000000000000000" pitchFamily="2" charset="2"/>
              </a:rPr>
              <a:t>= 3 * f1(3, 1-1)  3 * </a:t>
            </a:r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f1(3, 0) </a:t>
            </a:r>
            <a:r>
              <a:rPr lang="pt-BR" dirty="0">
                <a:sym typeface="Wingdings" panose="05000000000000000000" pitchFamily="2" charset="2"/>
              </a:rPr>
              <a:t> 3 * ???  3 * </a:t>
            </a:r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1</a:t>
            </a:r>
            <a:r>
              <a:rPr lang="pt-BR" dirty="0">
                <a:sym typeface="Wingdings" panose="05000000000000000000" pitchFamily="2" charset="2"/>
              </a:rPr>
              <a:t> 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</a:p>
          <a:p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f1(3, 0)</a:t>
            </a:r>
            <a:r>
              <a:rPr lang="pt-BR" dirty="0">
                <a:sym typeface="Wingdings" panose="05000000000000000000" pitchFamily="2" charset="2"/>
              </a:rPr>
              <a:t> = </a:t>
            </a:r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1</a:t>
            </a: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99531AB-6749-4611-BC52-0FD0FDDBF698}"/>
              </a:ext>
            </a:extLst>
          </p:cNvPr>
          <p:cNvSpPr/>
          <p:nvPr/>
        </p:nvSpPr>
        <p:spPr>
          <a:xfrm flipV="1">
            <a:off x="6988212" y="3184989"/>
            <a:ext cx="678094" cy="16644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D8DB4B-8941-4B9E-BAA2-C76D324EBBC8}"/>
              </a:ext>
            </a:extLst>
          </p:cNvPr>
          <p:cNvSpPr txBox="1"/>
          <p:nvPr/>
        </p:nvSpPr>
        <p:spPr>
          <a:xfrm>
            <a:off x="7883849" y="3694030"/>
            <a:ext cx="301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Propaga a solução do caso base para os casos de redução</a:t>
            </a:r>
          </a:p>
        </p:txBody>
      </p:sp>
    </p:spTree>
    <p:extLst>
      <p:ext uri="{BB962C8B-B14F-4D97-AF65-F5344CB8AC3E}">
        <p14:creationId xmlns:p14="http://schemas.microsoft.com/office/powerpoint/2010/main" val="267041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3A10AA0-14F7-42B0-9266-9F448897754A}"/>
                  </a:ext>
                </a:extLst>
              </p:cNvPr>
              <p:cNvSpPr txBox="1"/>
              <p:nvPr/>
            </p:nvSpPr>
            <p:spPr>
              <a:xfrm>
                <a:off x="412892" y="391993"/>
                <a:ext cx="4458144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𝑠𝑒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=0     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𝑐𝑎𝑠𝑜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𝑐𝑜𝑛𝑡𝑟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á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𝑟𝑖𝑜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3A10AA0-14F7-42B0-9266-9F4488977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2" y="391993"/>
                <a:ext cx="4458144" cy="617861"/>
              </a:xfrm>
              <a:prstGeom prst="rect">
                <a:avLst/>
              </a:prstGeom>
              <a:blipFill>
                <a:blip r:embed="rId2"/>
                <a:stretch>
                  <a:fillRect l="-1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53C2027-DC61-494F-9E72-7F155D5A1BAD}"/>
              </a:ext>
            </a:extLst>
          </p:cNvPr>
          <p:cNvSpPr txBox="1"/>
          <p:nvPr/>
        </p:nvSpPr>
        <p:spPr>
          <a:xfrm>
            <a:off x="412892" y="1287717"/>
            <a:ext cx="46609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de mesa: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f1(5, 3) </a:t>
            </a:r>
            <a:r>
              <a:rPr lang="pt-BR" dirty="0"/>
              <a:t>= ????</a:t>
            </a:r>
          </a:p>
          <a:p>
            <a:endParaRPr lang="pt-BR" dirty="0"/>
          </a:p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f1(5, 3) </a:t>
            </a:r>
            <a:r>
              <a:rPr lang="pt-BR" dirty="0"/>
              <a:t>= 5 * f1(5, 3-1) </a:t>
            </a:r>
            <a:r>
              <a:rPr lang="pt-BR" dirty="0">
                <a:sym typeface="Wingdings" panose="05000000000000000000" pitchFamily="2" charset="2"/>
              </a:rPr>
              <a:t> 5 *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f1(5, 2) </a:t>
            </a:r>
            <a:r>
              <a:rPr lang="pt-BR" dirty="0">
                <a:sym typeface="Wingdings" panose="05000000000000000000" pitchFamily="2" charset="2"/>
              </a:rPr>
              <a:t> 5 * ???</a:t>
            </a:r>
          </a:p>
          <a:p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f1(5, 2) </a:t>
            </a:r>
            <a:r>
              <a:rPr lang="pt-BR" dirty="0">
                <a:sym typeface="Wingdings" panose="05000000000000000000" pitchFamily="2" charset="2"/>
              </a:rPr>
              <a:t>= 5 * f1(5, 2-1)  5 * </a:t>
            </a:r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f1(5, 1) </a:t>
            </a:r>
            <a:r>
              <a:rPr lang="pt-BR" dirty="0">
                <a:sym typeface="Wingdings" panose="05000000000000000000" pitchFamily="2" charset="2"/>
              </a:rPr>
              <a:t> 5 * ???</a:t>
            </a:r>
          </a:p>
          <a:p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f1(5, 1) </a:t>
            </a:r>
            <a:r>
              <a:rPr lang="pt-BR" dirty="0">
                <a:sym typeface="Wingdings" panose="05000000000000000000" pitchFamily="2" charset="2"/>
              </a:rPr>
              <a:t>= 5 * f1(5, 1-1)  5 *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f1(5, 0) </a:t>
            </a:r>
            <a:r>
              <a:rPr lang="pt-BR" dirty="0">
                <a:sym typeface="Wingdings" panose="05000000000000000000" pitchFamily="2" charset="2"/>
              </a:rPr>
              <a:t> 5 * ???</a:t>
            </a:r>
          </a:p>
          <a:p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f1(5, 0)</a:t>
            </a:r>
            <a:r>
              <a:rPr lang="pt-BR" dirty="0">
                <a:sym typeface="Wingdings" panose="05000000000000000000" pitchFamily="2" charset="2"/>
              </a:rPr>
              <a:t> = 1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5071592D-D57E-4B00-B798-4404885CBBCD}"/>
              </a:ext>
            </a:extLst>
          </p:cNvPr>
          <p:cNvSpPr/>
          <p:nvPr/>
        </p:nvSpPr>
        <p:spPr>
          <a:xfrm>
            <a:off x="5073818" y="1694798"/>
            <a:ext cx="678094" cy="13472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942DCD-E87C-45CD-93B5-134A5C23C587}"/>
              </a:ext>
            </a:extLst>
          </p:cNvPr>
          <p:cNvSpPr txBox="1"/>
          <p:nvPr/>
        </p:nvSpPr>
        <p:spPr>
          <a:xfrm>
            <a:off x="6005004" y="1936210"/>
            <a:ext cx="2938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Reduz o problema até chegar ao caso base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E2483CC-6667-4544-8B87-239B2406A92B}"/>
              </a:ext>
            </a:extLst>
          </p:cNvPr>
          <p:cNvSpPr/>
          <p:nvPr/>
        </p:nvSpPr>
        <p:spPr>
          <a:xfrm>
            <a:off x="337432" y="331592"/>
            <a:ext cx="4736386" cy="81867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77D11C-1F25-49DA-A7B0-C6F97EB749CA}"/>
              </a:ext>
            </a:extLst>
          </p:cNvPr>
          <p:cNvSpPr txBox="1"/>
          <p:nvPr/>
        </p:nvSpPr>
        <p:spPr>
          <a:xfrm>
            <a:off x="5630408" y="556262"/>
            <a:ext cx="123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SOLUÇÃO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1162813-D7DC-4363-88BD-7B599547E72E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5073818" y="740928"/>
            <a:ext cx="55659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8CD460-D4EF-4D76-8352-E389C4426CFE}"/>
              </a:ext>
            </a:extLst>
          </p:cNvPr>
          <p:cNvSpPr txBox="1"/>
          <p:nvPr/>
        </p:nvSpPr>
        <p:spPr>
          <a:xfrm>
            <a:off x="412892" y="3395747"/>
            <a:ext cx="5683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f1(5, 3) </a:t>
            </a:r>
            <a:r>
              <a:rPr lang="pt-BR" dirty="0"/>
              <a:t>= 5 * f1(5, 3-1) </a:t>
            </a:r>
            <a:r>
              <a:rPr lang="pt-BR" dirty="0">
                <a:sym typeface="Wingdings" panose="05000000000000000000" pitchFamily="2" charset="2"/>
              </a:rPr>
              <a:t> 5 *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f1(5, 2) </a:t>
            </a:r>
            <a:r>
              <a:rPr lang="pt-BR" dirty="0">
                <a:sym typeface="Wingdings" panose="05000000000000000000" pitchFamily="2" charset="2"/>
              </a:rPr>
              <a:t> 5 * 25 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125</a:t>
            </a:r>
          </a:p>
          <a:p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f1(5, 2) </a:t>
            </a:r>
            <a:r>
              <a:rPr lang="pt-BR" dirty="0">
                <a:sym typeface="Wingdings" panose="05000000000000000000" pitchFamily="2" charset="2"/>
              </a:rPr>
              <a:t>= 5 * f1(5, 2-1)  5 * </a:t>
            </a:r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f1(5, 1) </a:t>
            </a:r>
            <a:r>
              <a:rPr lang="pt-BR" dirty="0">
                <a:sym typeface="Wingdings" panose="05000000000000000000" pitchFamily="2" charset="2"/>
              </a:rPr>
              <a:t> 5 * </a:t>
            </a:r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5</a:t>
            </a:r>
            <a:r>
              <a:rPr lang="pt-BR" dirty="0">
                <a:sym typeface="Wingdings" panose="05000000000000000000" pitchFamily="2" charset="2"/>
              </a:rPr>
              <a:t> 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25</a:t>
            </a:r>
          </a:p>
          <a:p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f1(5, 1) </a:t>
            </a:r>
            <a:r>
              <a:rPr lang="pt-BR" dirty="0">
                <a:sym typeface="Wingdings" panose="05000000000000000000" pitchFamily="2" charset="2"/>
              </a:rPr>
              <a:t>= 5 * f1(5, 1-1)  5 *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f1(5, 0) </a:t>
            </a:r>
            <a:r>
              <a:rPr lang="pt-BR" dirty="0">
                <a:sym typeface="Wingdings" panose="05000000000000000000" pitchFamily="2" charset="2"/>
              </a:rPr>
              <a:t> 5 * </a:t>
            </a:r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1</a:t>
            </a:r>
            <a:r>
              <a:rPr lang="pt-BR" dirty="0">
                <a:sym typeface="Wingdings" panose="05000000000000000000" pitchFamily="2" charset="2"/>
              </a:rPr>
              <a:t>  </a:t>
            </a:r>
            <a:r>
              <a:rPr lang="pt-B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5</a:t>
            </a:r>
          </a:p>
          <a:p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f1(5, 0)</a:t>
            </a:r>
            <a:r>
              <a:rPr lang="pt-BR" dirty="0">
                <a:sym typeface="Wingdings" panose="05000000000000000000" pitchFamily="2" charset="2"/>
              </a:rPr>
              <a:t> = </a:t>
            </a:r>
            <a:r>
              <a:rPr lang="pt-BR" dirty="0">
                <a:solidFill>
                  <a:srgbClr val="FFC000"/>
                </a:solidFill>
                <a:sym typeface="Wingdings" panose="05000000000000000000" pitchFamily="2" charset="2"/>
              </a:rPr>
              <a:t>1</a:t>
            </a:r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EA75E835-7F74-495D-A7BA-43F7E84A7C15}"/>
              </a:ext>
            </a:extLst>
          </p:cNvPr>
          <p:cNvSpPr/>
          <p:nvPr/>
        </p:nvSpPr>
        <p:spPr>
          <a:xfrm flipV="1">
            <a:off x="5969455" y="3429000"/>
            <a:ext cx="678094" cy="10736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55DB0F0-C6FE-46D6-90DA-60F3E3496E1B}"/>
              </a:ext>
            </a:extLst>
          </p:cNvPr>
          <p:cNvSpPr txBox="1"/>
          <p:nvPr/>
        </p:nvSpPr>
        <p:spPr>
          <a:xfrm>
            <a:off x="6647549" y="3729493"/>
            <a:ext cx="301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Propaga a solução do caso base para os casos de redução</a:t>
            </a:r>
          </a:p>
        </p:txBody>
      </p:sp>
    </p:spTree>
    <p:extLst>
      <p:ext uri="{BB962C8B-B14F-4D97-AF65-F5344CB8AC3E}">
        <p14:creationId xmlns:p14="http://schemas.microsoft.com/office/powerpoint/2010/main" val="39786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  <p:bldP spid="9" grpId="0"/>
      <p:bldP spid="12" grpId="0" uiExpand="1" build="p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99029FB-D2E5-4C77-BDA4-88B3471C630C}"/>
              </a:ext>
            </a:extLst>
          </p:cNvPr>
          <p:cNvSpPr txBox="1"/>
          <p:nvPr/>
        </p:nvSpPr>
        <p:spPr>
          <a:xfrm>
            <a:off x="1860" y="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2. Calcular o somatório dos inteiros de 1 até n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85D8819-617C-465C-B559-295A1350C8D5}"/>
              </a:ext>
            </a:extLst>
          </p:cNvPr>
          <p:cNvSpPr txBox="1"/>
          <p:nvPr/>
        </p:nvSpPr>
        <p:spPr>
          <a:xfrm>
            <a:off x="99829" y="369332"/>
            <a:ext cx="9949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se quer é dar o resultado de: 1 + 2 + 3 + ... + n-2 + n-1 + n.</a:t>
            </a:r>
          </a:p>
          <a:p>
            <a:r>
              <a:rPr lang="pt-BR" b="1" dirty="0"/>
              <a:t>Caso Base</a:t>
            </a:r>
            <a:r>
              <a:rPr lang="pt-BR" dirty="0"/>
              <a:t>: a função deve retornar 1, quanto n = 1</a:t>
            </a:r>
          </a:p>
          <a:p>
            <a:r>
              <a:rPr lang="pt-BR" b="1" dirty="0"/>
              <a:t>Caso de recursão</a:t>
            </a:r>
            <a:r>
              <a:rPr lang="pt-BR" dirty="0"/>
              <a:t>: Enquanto o n for diferente de 1, fazemos n somado a chamada recursiva reduzindo o n em 1.</a:t>
            </a:r>
            <a:endParaRPr lang="pt-BR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5B1DBCA-1021-4704-A824-EAAF665881EE}"/>
                  </a:ext>
                </a:extLst>
              </p:cNvPr>
              <p:cNvSpPr txBox="1"/>
              <p:nvPr/>
            </p:nvSpPr>
            <p:spPr>
              <a:xfrm>
                <a:off x="304248" y="1630062"/>
                <a:ext cx="4318939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𝑠𝑒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=1     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𝑐𝑎𝑠𝑜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𝑐𝑜𝑛𝑡𝑟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á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𝑟𝑖𝑜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5B1DBCA-1021-4704-A824-EAAF66588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48" y="1630062"/>
                <a:ext cx="4318939" cy="617861"/>
              </a:xfrm>
              <a:prstGeom prst="rect">
                <a:avLst/>
              </a:prstGeom>
              <a:blipFill>
                <a:blip r:embed="rId2"/>
                <a:stretch>
                  <a:fillRect l="-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89AAEAC1-0751-4CFD-917B-458B5D20E13E}"/>
              </a:ext>
            </a:extLst>
          </p:cNvPr>
          <p:cNvSpPr/>
          <p:nvPr/>
        </p:nvSpPr>
        <p:spPr>
          <a:xfrm>
            <a:off x="228788" y="1569661"/>
            <a:ext cx="4736386" cy="81867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112BD6E-F47A-460E-A3FF-77F910882277}"/>
              </a:ext>
            </a:extLst>
          </p:cNvPr>
          <p:cNvSpPr txBox="1"/>
          <p:nvPr/>
        </p:nvSpPr>
        <p:spPr>
          <a:xfrm>
            <a:off x="5521764" y="1794331"/>
            <a:ext cx="123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SOLUÇÃO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49B1ED4-038C-4503-BD6B-2DAE44DE010D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965174" y="1978997"/>
            <a:ext cx="55659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32C7AB-3A8A-4A2E-971C-77596BD0A07D}"/>
              </a:ext>
            </a:extLst>
          </p:cNvPr>
          <p:cNvSpPr txBox="1"/>
          <p:nvPr/>
        </p:nvSpPr>
        <p:spPr>
          <a:xfrm>
            <a:off x="228788" y="2657259"/>
            <a:ext cx="59659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de Mesa </a:t>
            </a:r>
            <a:r>
              <a:rPr lang="pt-BR" dirty="0">
                <a:sym typeface="Wingdings" panose="05000000000000000000" pitchFamily="2" charset="2"/>
              </a:rPr>
              <a:t> f2(5) = ???  15</a:t>
            </a:r>
          </a:p>
          <a:p>
            <a:r>
              <a:rPr lang="pt-BR" dirty="0">
                <a:sym typeface="Wingdings" panose="05000000000000000000" pitchFamily="2" charset="2"/>
              </a:rPr>
              <a:t>f2(5) = 5 + f2(5-1)  5 + f2(4)  5 + ???  5 + 10  15</a:t>
            </a:r>
          </a:p>
          <a:p>
            <a:r>
              <a:rPr lang="pt-BR" dirty="0">
                <a:sym typeface="Wingdings" panose="05000000000000000000" pitchFamily="2" charset="2"/>
              </a:rPr>
              <a:t>f2(4) = 4 + f2(4-1)  4 + f2(3)  4 + ???  4 + 6  10</a:t>
            </a:r>
          </a:p>
          <a:p>
            <a:r>
              <a:rPr lang="pt-BR" dirty="0">
                <a:sym typeface="Wingdings" panose="05000000000000000000" pitchFamily="2" charset="2"/>
              </a:rPr>
              <a:t>f2(3) = 3 + f2(3-1)  3 + f2(2)  3 + ???  3 + 3  6</a:t>
            </a:r>
          </a:p>
          <a:p>
            <a:r>
              <a:rPr lang="pt-BR" dirty="0">
                <a:sym typeface="Wingdings" panose="05000000000000000000" pitchFamily="2" charset="2"/>
              </a:rPr>
              <a:t>f2(2) = 2 + f2(2-1)  2 + f2(1)  2 + ???  2 + 1  3</a:t>
            </a:r>
          </a:p>
          <a:p>
            <a:r>
              <a:rPr lang="pt-BR" dirty="0">
                <a:sym typeface="Wingdings" panose="05000000000000000000" pitchFamily="2" charset="2"/>
              </a:rPr>
              <a:t>f2(1) = 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42477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797</Words>
  <Application>Microsoft Office PowerPoint</Application>
  <PresentationFormat>Widescreen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Arantes de Oliveira</dc:creator>
  <cp:lastModifiedBy>Marcelo Arantes de Oliveira</cp:lastModifiedBy>
  <cp:revision>9</cp:revision>
  <dcterms:created xsi:type="dcterms:W3CDTF">2021-05-19T22:02:36Z</dcterms:created>
  <dcterms:modified xsi:type="dcterms:W3CDTF">2021-05-19T23:19:26Z</dcterms:modified>
</cp:coreProperties>
</file>